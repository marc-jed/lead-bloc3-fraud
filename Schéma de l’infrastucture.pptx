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80" r:id="rId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102" d="100"/>
          <a:sy n="102" d="100"/>
        </p:scale>
        <p:origin x="7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6BFEE-99E7-413C-AB19-26362DA9AB13}" type="datetimeFigureOut">
              <a:rPr lang="fr-FR" smtClean="0"/>
              <a:t>05/01/2026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AF187-060D-4455-9B38-765C3269332E}" type="slidenum">
              <a:rPr lang="fr-FR" smtClean="0"/>
              <a:t>‹N°›</a:t>
            </a:fld>
            <a:endParaRPr lang="fr-FR"/>
          </a:p>
        </p:txBody>
      </p:sp>
    </p:spTree>
    <p:extLst>
      <p:ext uri="{BB962C8B-B14F-4D97-AF65-F5344CB8AC3E}">
        <p14:creationId xmlns:p14="http://schemas.microsoft.com/office/powerpoint/2010/main" val="2335787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A9607417-511A-B2E5-1E15-9E14C8FBD522}"/>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5EC108BA-0368-9BDD-3208-671953BFB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66AC2356-B961-9937-F563-D4252CC9FE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Pour répondre à cette problématique, j’ai choisi de séparer les données selon leur usage.</a:t>
            </a:r>
            <a:br>
              <a:rPr lang="fr-FR" dirty="0"/>
            </a:br>
            <a:r>
              <a:rPr lang="fr-FR" dirty="0"/>
              <a:t>Chaque type de données est traité par une architecture adaptée, et les systèmes sont reliés par des pipelines de données.</a:t>
            </a:r>
          </a:p>
          <a:p>
            <a:r>
              <a:rPr lang="fr-FR" dirty="0"/>
              <a:t>On distingue trois types de données :</a:t>
            </a:r>
            <a:br>
              <a:rPr lang="fr-FR" dirty="0"/>
            </a:br>
            <a:r>
              <a:rPr lang="fr-FR" dirty="0"/>
              <a:t>les données transactionnelles, les données analytiques et les données non structurées.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Chaque type de données a ses contraintes et son architecture dédiée.</a:t>
            </a:r>
            <a:endParaRPr dirty="0"/>
          </a:p>
        </p:txBody>
      </p:sp>
    </p:spTree>
    <p:extLst>
      <p:ext uri="{BB962C8B-B14F-4D97-AF65-F5344CB8AC3E}">
        <p14:creationId xmlns:p14="http://schemas.microsoft.com/office/powerpoint/2010/main" val="2281399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9D1051-D1CF-458A-C43E-368046D3945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6278F98-2F21-CCFC-D86C-F8A124521B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D8A28A7-EFE9-75AC-15DD-94505F84CFD6}"/>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DADD27F9-7554-BEEB-F8E2-CE641624C1D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6FD92D-A31F-748A-B57D-40DFC511D7A0}"/>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749441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E8CBF3-B1D5-22C2-39F6-546DB765DED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B358E9B-255B-90BC-D7C4-DB6BC0233E5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4CF66E-5191-1784-EEEA-817073CFB3DA}"/>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8AFCA153-E8BE-2A86-C790-1CE22E54C0E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B3548F9-9ACB-F744-6CDA-EDB17F1C277E}"/>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1035006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8991E1-11F6-29ED-7BC5-7E682AE106E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1251E34-CF21-C881-A4C8-D913CAA4F9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3E70252-2A96-F8DE-DA1C-B78AB1922846}"/>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84306307-A11D-2C76-338F-ECA9998851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CAD3902-7822-17A1-275F-09371B214181}"/>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1768851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3791C-4638-CC4A-EC83-953AFC47B5C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67096CC-E637-F616-7E55-94BB2AFF62C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DCB2D92-7E0C-1DA5-8548-46885997C4C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FFF1929-CDF9-3C1D-641E-659310C7688C}"/>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6" name="Espace réservé du pied de page 5">
            <a:extLst>
              <a:ext uri="{FF2B5EF4-FFF2-40B4-BE49-F238E27FC236}">
                <a16:creationId xmlns:a16="http://schemas.microsoft.com/office/drawing/2014/main" id="{094F0FFF-6A6C-5198-79B2-BF5BF43B01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558698-3964-E008-2508-1FFB720DDC8A}"/>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059667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A8805D-58DA-EE10-46BB-32F91E5BD93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83AC00D-8441-8DD2-1287-046DCC43AA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28670D-DC0A-8588-35EE-82D5AF2CB78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1E426C8-C229-D692-54EF-48DFD9927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F29284-91BD-03F2-C9C0-3FBD6DA4143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659B5E7-A8FC-0380-C981-4E40B2337739}"/>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8" name="Espace réservé du pied de page 7">
            <a:extLst>
              <a:ext uri="{FF2B5EF4-FFF2-40B4-BE49-F238E27FC236}">
                <a16:creationId xmlns:a16="http://schemas.microsoft.com/office/drawing/2014/main" id="{963813AB-A3CF-6DD8-6023-D8C328AB18C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132CEF3-691E-AD81-62D8-94E1E333CCD0}"/>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229638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9E870C-3CA5-4D40-FAE1-44FAA9BC46B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733A37E-5495-197A-0F3A-BC8B4EB91FEA}"/>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4" name="Espace réservé du pied de page 3">
            <a:extLst>
              <a:ext uri="{FF2B5EF4-FFF2-40B4-BE49-F238E27FC236}">
                <a16:creationId xmlns:a16="http://schemas.microsoft.com/office/drawing/2014/main" id="{F065FBD9-F8F5-1582-A827-24A3153C483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2340793-8A84-25F8-9558-2528BD71199D}"/>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731854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CBFBB14-C931-4B03-1EDB-30A99926A3E0}"/>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3" name="Espace réservé du pied de page 2">
            <a:extLst>
              <a:ext uri="{FF2B5EF4-FFF2-40B4-BE49-F238E27FC236}">
                <a16:creationId xmlns:a16="http://schemas.microsoft.com/office/drawing/2014/main" id="{33E28B36-D559-5F07-4769-C3077320E5E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38CBD9-0B4D-D06D-D222-699D1A586BAF}"/>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834487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ECF562-88DA-FD98-A676-9FD1456B21B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1A7BDE2-DB8B-D439-3ED1-236005B041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CC8DED9-EC5A-2E42-C6F2-D37C90AA86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3E1876D-2E68-7643-4C2A-DB984E593500}"/>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6" name="Espace réservé du pied de page 5">
            <a:extLst>
              <a:ext uri="{FF2B5EF4-FFF2-40B4-BE49-F238E27FC236}">
                <a16:creationId xmlns:a16="http://schemas.microsoft.com/office/drawing/2014/main" id="{FAF6AD05-EDD0-7617-7F68-578231FF000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D866D98-21CA-036D-8BAC-63ADF68ACFAB}"/>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1005680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C3B865-017A-24F4-702A-7E4CEEEBA8F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E8D1B31-AA8C-1236-F107-B1CEDCF59F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AF1D23F-F9AA-75B7-AB23-F3CDDC294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3D4012A-0F8D-C8D9-8481-080851E7D316}"/>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6" name="Espace réservé du pied de page 5">
            <a:extLst>
              <a:ext uri="{FF2B5EF4-FFF2-40B4-BE49-F238E27FC236}">
                <a16:creationId xmlns:a16="http://schemas.microsoft.com/office/drawing/2014/main" id="{2D62B519-A42C-22BC-5F68-6CDB22AC01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14ED5D0-BD6F-34BA-5AA5-452F4A8624BE}"/>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332760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96CC90-10CB-2976-B14B-665F2974EE8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EE12045-D687-CB3A-4DC0-1FC11363804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8A6643F-F943-5BA1-BD4A-E3C5AD5DEA8C}"/>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3DF8C7F0-A941-1CD4-9E63-72755AC8CA1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9CA4659-48F6-DAFC-CD23-513B48F25857}"/>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1987257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43944F8-81CF-2550-C36B-368F319071D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FF3B1E0-E3C5-CA78-C08B-28BDE43D80F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9AA0222-3CF5-8165-1FB0-29E12E868526}"/>
              </a:ext>
            </a:extLst>
          </p:cNvPr>
          <p:cNvSpPr>
            <a:spLocks noGrp="1"/>
          </p:cNvSpPr>
          <p:nvPr>
            <p:ph type="dt" sz="half" idx="10"/>
          </p:nvPr>
        </p:nvSpPr>
        <p:spPr/>
        <p:txBody>
          <a:body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53C688F3-E9C8-6EF9-EC64-716FAC1831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2178A69-BF3E-C536-7839-6191A8448113}"/>
              </a:ext>
            </a:extLst>
          </p:cNvPr>
          <p:cNvSpPr>
            <a:spLocks noGrp="1"/>
          </p:cNvSpPr>
          <p:nvPr>
            <p:ph type="sldNum" sz="quarter" idx="12"/>
          </p:nvPr>
        </p:nvSpPr>
        <p:spPr/>
        <p:txBody>
          <a:bodyPr/>
          <a:lstStyle/>
          <a:p>
            <a:fld id="{3200AD9E-2513-4930-AB87-F74CF1F05306}" type="slidenum">
              <a:rPr lang="fr-FR" smtClean="0"/>
              <a:t>‹N°›</a:t>
            </a:fld>
            <a:endParaRPr lang="fr-FR"/>
          </a:p>
        </p:txBody>
      </p:sp>
    </p:spTree>
    <p:extLst>
      <p:ext uri="{BB962C8B-B14F-4D97-AF65-F5344CB8AC3E}">
        <p14:creationId xmlns:p14="http://schemas.microsoft.com/office/powerpoint/2010/main" val="570532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528816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D88AE9A-AEB0-95B6-6115-5C8BC19C66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CE6C2F7-5D77-3FB4-354F-8AD1A7376D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E6873D-70CB-279A-E19F-63C82BAF86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F2304-9A74-479D-BED4-11F4F8FD0004}" type="datetimeFigureOut">
              <a:rPr lang="fr-FR" smtClean="0"/>
              <a:t>05/01/2026</a:t>
            </a:fld>
            <a:endParaRPr lang="fr-FR"/>
          </a:p>
        </p:txBody>
      </p:sp>
      <p:sp>
        <p:nvSpPr>
          <p:cNvPr id="5" name="Espace réservé du pied de page 4">
            <a:extLst>
              <a:ext uri="{FF2B5EF4-FFF2-40B4-BE49-F238E27FC236}">
                <a16:creationId xmlns:a16="http://schemas.microsoft.com/office/drawing/2014/main" id="{60B4448B-D77E-54C0-DB12-296B4466B9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6655ED-F966-1079-2DD0-FCCEA8561A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00AD9E-2513-4930-AB87-F74CF1F05306}" type="slidenum">
              <a:rPr lang="fr-FR" smtClean="0"/>
              <a:t>‹N°›</a:t>
            </a:fld>
            <a:endParaRPr lang="fr-FR"/>
          </a:p>
        </p:txBody>
      </p:sp>
    </p:spTree>
    <p:extLst>
      <p:ext uri="{BB962C8B-B14F-4D97-AF65-F5344CB8AC3E}">
        <p14:creationId xmlns:p14="http://schemas.microsoft.com/office/powerpoint/2010/main" val="4292775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EA937860-984B-6029-8A7B-4BD542D886DC}"/>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759C1DB5-3ACE-621E-9FB1-792ABABC0098}"/>
              </a:ext>
            </a:extLst>
          </p:cNvPr>
          <p:cNvSpPr txBox="1">
            <a:spLocks noGrp="1"/>
          </p:cNvSpPr>
          <p:nvPr>
            <p:ph type="ctrTitle" idx="4294967295"/>
          </p:nvPr>
        </p:nvSpPr>
        <p:spPr>
          <a:xfrm>
            <a:off x="1590219" y="537745"/>
            <a:ext cx="9325432" cy="710800"/>
          </a:xfrm>
          <a:prstGeom prst="rect">
            <a:avLst/>
          </a:prstGeom>
        </p:spPr>
        <p:txBody>
          <a:bodyPr spcFirstLastPara="1" vert="horz" wrap="square" lIns="121900" tIns="121900" rIns="121900" bIns="121900" rtlCol="0" anchor="t" anchorCtr="0">
            <a:noAutofit/>
          </a:bodyPr>
          <a:lstStyle/>
          <a:p>
            <a:pPr>
              <a:spcBef>
                <a:spcPts val="0"/>
              </a:spcBef>
            </a:pPr>
            <a:r>
              <a:rPr lang="fr" sz="3333" dirty="0">
                <a:solidFill>
                  <a:srgbClr val="0E3449"/>
                </a:solidFill>
                <a:latin typeface="Inter SemiBold"/>
                <a:ea typeface="Inter SemiBold"/>
                <a:cs typeface="Inter SemiBold"/>
                <a:sym typeface="Inter SemiBold"/>
              </a:rPr>
              <a:t>Schéma de l’infrastucture </a:t>
            </a:r>
            <a:endParaRPr sz="3333" dirty="0">
              <a:solidFill>
                <a:srgbClr val="0E3449"/>
              </a:solidFill>
              <a:latin typeface="Inter SemiBold"/>
              <a:ea typeface="Inter SemiBold"/>
              <a:cs typeface="Inter SemiBold"/>
              <a:sym typeface="Inter SemiBold"/>
            </a:endParaRPr>
          </a:p>
        </p:txBody>
      </p:sp>
      <p:pic>
        <p:nvPicPr>
          <p:cNvPr id="75" name="Google Shape;75;p15">
            <a:extLst>
              <a:ext uri="{FF2B5EF4-FFF2-40B4-BE49-F238E27FC236}">
                <a16:creationId xmlns:a16="http://schemas.microsoft.com/office/drawing/2014/main" id="{4A73AE5D-8475-5E8B-F71B-125577DC4C75}"/>
              </a:ext>
            </a:extLst>
          </p:cNvPr>
          <p:cNvPicPr preferRelativeResize="0"/>
          <p:nvPr/>
        </p:nvPicPr>
        <p:blipFill>
          <a:blip r:embed="rId5">
            <a:alphaModFix/>
          </a:blip>
          <a:stretch>
            <a:fillRect/>
          </a:stretch>
        </p:blipFill>
        <p:spPr>
          <a:xfrm>
            <a:off x="617833" y="643803"/>
            <a:ext cx="769200" cy="514539"/>
          </a:xfrm>
          <a:prstGeom prst="rect">
            <a:avLst/>
          </a:prstGeom>
          <a:noFill/>
          <a:ln>
            <a:noFill/>
          </a:ln>
        </p:spPr>
      </p:pic>
      <p:sp>
        <p:nvSpPr>
          <p:cNvPr id="76" name="Google Shape;76;p15">
            <a:extLst>
              <a:ext uri="{FF2B5EF4-FFF2-40B4-BE49-F238E27FC236}">
                <a16:creationId xmlns:a16="http://schemas.microsoft.com/office/drawing/2014/main" id="{6596AAF1-71D1-08E4-500D-15DA88AFB1B7}"/>
              </a:ext>
            </a:extLst>
          </p:cNvPr>
          <p:cNvSpPr/>
          <p:nvPr/>
        </p:nvSpPr>
        <p:spPr>
          <a:xfrm>
            <a:off x="13633" y="6522700"/>
            <a:ext cx="12192000" cy="335200"/>
          </a:xfrm>
          <a:prstGeom prst="rect">
            <a:avLst/>
          </a:prstGeom>
          <a:solidFill>
            <a:srgbClr val="C3FFFC"/>
          </a:solidFill>
          <a:ln>
            <a:noFill/>
          </a:ln>
        </p:spPr>
        <p:txBody>
          <a:bodyPr spcFirstLastPara="1" wrap="square" lIns="121900" tIns="121900" rIns="121900" bIns="121900" anchor="ctr" anchorCtr="0">
            <a:noAutofit/>
          </a:bodyPr>
          <a:lstStyle/>
          <a:p>
            <a:endParaRPr sz="2400"/>
          </a:p>
        </p:txBody>
      </p:sp>
      <p:sp>
        <p:nvSpPr>
          <p:cNvPr id="11" name="ZoneTexte 10">
            <a:extLst>
              <a:ext uri="{FF2B5EF4-FFF2-40B4-BE49-F238E27FC236}">
                <a16:creationId xmlns:a16="http://schemas.microsoft.com/office/drawing/2014/main" id="{A2F32CDF-E353-B4B7-4DAC-8FA6A2BCEAB5}"/>
              </a:ext>
            </a:extLst>
          </p:cNvPr>
          <p:cNvSpPr txBox="1"/>
          <p:nvPr/>
        </p:nvSpPr>
        <p:spPr>
          <a:xfrm>
            <a:off x="176065" y="1351474"/>
            <a:ext cx="6109590" cy="3539430"/>
          </a:xfrm>
          <a:prstGeom prst="rect">
            <a:avLst/>
          </a:prstGeom>
          <a:noFill/>
        </p:spPr>
        <p:txBody>
          <a:bodyPr wrap="square" rtlCol="0">
            <a:spAutoFit/>
          </a:bodyPr>
          <a:lstStyle/>
          <a:p>
            <a:r>
              <a:rPr lang="fr-FR" sz="1600" dirty="0"/>
              <a:t>Cette architecture met en place un </a:t>
            </a:r>
            <a:r>
              <a:rPr lang="fr-FR" sz="1600" b="1" dirty="0"/>
              <a:t>pipeline de détection de fraude en temps réel</a:t>
            </a:r>
            <a:r>
              <a:rPr lang="fr-FR" sz="1600" dirty="0"/>
              <a:t>, complété par une analyse batch quotidienne.</a:t>
            </a:r>
          </a:p>
          <a:p>
            <a:r>
              <a:rPr lang="fr-FR" sz="1600" dirty="0"/>
              <a:t>Les paiements sont ingérés en continu via une API, puis stockés dans une base de données afin de garantir la traçabilité et permettre des analyses ultérieures.</a:t>
            </a:r>
            <a:br>
              <a:rPr lang="fr-FR" sz="1600" dirty="0"/>
            </a:br>
            <a:r>
              <a:rPr lang="fr-FR" sz="1600" dirty="0"/>
              <a:t>Chaque transaction est ensuite prétraitée via un pipeline réutilisable, identique à celui utilisé lors de l’entraînement du modèle, puis scorée par un modèle de machine </a:t>
            </a:r>
            <a:r>
              <a:rPr lang="fr-FR" sz="1600" dirty="0" err="1"/>
              <a:t>learning</a:t>
            </a:r>
            <a:r>
              <a:rPr lang="fr-FR" sz="1600" dirty="0"/>
              <a:t> afin d’estimer la probabilité de fraude. Lorsqu’une transaction dépasse un seuil de risque, une notification ( mail ) est déclenchée pour signaler une fraude potentielle. En parallèle, les données stockées sont agrégées quotidiennement afin de permettre aux équipes de vérifier l’ensemble des paiements et des fraudes détectées la veille.</a:t>
            </a:r>
          </a:p>
          <a:p>
            <a:endParaRPr lang="fr-FR" sz="1600" dirty="0"/>
          </a:p>
        </p:txBody>
      </p:sp>
      <p:sp>
        <p:nvSpPr>
          <p:cNvPr id="14" name="ZoneTexte 13">
            <a:extLst>
              <a:ext uri="{FF2B5EF4-FFF2-40B4-BE49-F238E27FC236}">
                <a16:creationId xmlns:a16="http://schemas.microsoft.com/office/drawing/2014/main" id="{05F09D71-1EDC-F86F-F7B1-12E57B705A23}"/>
              </a:ext>
            </a:extLst>
          </p:cNvPr>
          <p:cNvSpPr txBox="1"/>
          <p:nvPr/>
        </p:nvSpPr>
        <p:spPr>
          <a:xfrm>
            <a:off x="176065" y="4890904"/>
            <a:ext cx="5730281" cy="1077218"/>
          </a:xfrm>
          <a:prstGeom prst="rect">
            <a:avLst/>
          </a:prstGeom>
          <a:noFill/>
        </p:spPr>
        <p:txBody>
          <a:bodyPr wrap="square" rtlCol="0">
            <a:spAutoFit/>
          </a:bodyPr>
          <a:lstStyle/>
          <a:p>
            <a:r>
              <a:rPr lang="fr-FR" sz="1600" b="1" dirty="0"/>
              <a:t>Cette architecture a été choisie car elle :</a:t>
            </a:r>
          </a:p>
          <a:p>
            <a:pPr marL="380990" indent="-380990">
              <a:buFont typeface="Wingdings" panose="05000000000000000000" pitchFamily="2" charset="2"/>
              <a:buChar char="§"/>
            </a:pPr>
            <a:r>
              <a:rPr lang="fr-FR" sz="1600" dirty="0"/>
              <a:t>privilégie le pipeline de données, élément central du projet</a:t>
            </a:r>
          </a:p>
          <a:p>
            <a:pPr marL="380990" indent="-380990">
              <a:buFont typeface="Wingdings" panose="05000000000000000000" pitchFamily="2" charset="2"/>
              <a:buChar char="§"/>
            </a:pPr>
            <a:r>
              <a:rPr lang="fr-FR" sz="1600" dirty="0"/>
              <a:t>permet une détection en temps réel et un </a:t>
            </a:r>
            <a:r>
              <a:rPr lang="fr-FR" sz="1600" dirty="0" err="1"/>
              <a:t>reporting</a:t>
            </a:r>
            <a:r>
              <a:rPr lang="fr-FR" sz="1600" dirty="0"/>
              <a:t> batch</a:t>
            </a:r>
          </a:p>
          <a:p>
            <a:pPr marL="380990" indent="-380990">
              <a:buFont typeface="Wingdings" panose="05000000000000000000" pitchFamily="2" charset="2"/>
              <a:buChar char="§"/>
            </a:pPr>
            <a:r>
              <a:rPr lang="fr-FR" sz="1600" dirty="0"/>
              <a:t>est modulaire, réutilisable et proche d’un cas d’usage réel</a:t>
            </a:r>
          </a:p>
        </p:txBody>
      </p:sp>
      <p:pic>
        <p:nvPicPr>
          <p:cNvPr id="2" name="Schema Fraude detection">
            <a:hlinkClick r:id="" action="ppaction://media"/>
            <a:extLst>
              <a:ext uri="{FF2B5EF4-FFF2-40B4-BE49-F238E27FC236}">
                <a16:creationId xmlns:a16="http://schemas.microsoft.com/office/drawing/2014/main" id="{6522FB8B-0C05-2E42-7B3D-0CA51C839D6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285655" y="1432971"/>
            <a:ext cx="5773398" cy="4409668"/>
          </a:xfrm>
          <a:prstGeom prst="rect">
            <a:avLst/>
          </a:prstGeom>
        </p:spPr>
      </p:pic>
    </p:spTree>
    <p:extLst>
      <p:ext uri="{BB962C8B-B14F-4D97-AF65-F5344CB8AC3E}">
        <p14:creationId xmlns:p14="http://schemas.microsoft.com/office/powerpoint/2010/main" val="164634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5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246</Words>
  <Application>Microsoft Office PowerPoint</Application>
  <PresentationFormat>Grand écran</PresentationFormat>
  <Paragraphs>11</Paragraphs>
  <Slides>1</Slides>
  <Notes>1</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vt:i4>
      </vt:variant>
    </vt:vector>
  </HeadingPairs>
  <TitlesOfParts>
    <vt:vector size="7" baseType="lpstr">
      <vt:lpstr>Arial</vt:lpstr>
      <vt:lpstr>Calibri</vt:lpstr>
      <vt:lpstr>Calibri Light</vt:lpstr>
      <vt:lpstr>Inter SemiBold</vt:lpstr>
      <vt:lpstr>Wingdings</vt:lpstr>
      <vt:lpstr>Thème Office</vt:lpstr>
      <vt:lpstr>Schéma de l’infrastucture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Barthes</dc:creator>
  <cp:lastModifiedBy>Marc Barthes</cp:lastModifiedBy>
  <cp:revision>2</cp:revision>
  <dcterms:created xsi:type="dcterms:W3CDTF">2026-01-05T18:18:08Z</dcterms:created>
  <dcterms:modified xsi:type="dcterms:W3CDTF">2026-01-05T18:28:17Z</dcterms:modified>
</cp:coreProperties>
</file>